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640080"/>
            <a:ext cx="1828800" cy="1828800"/>
          </a:xfrm>
          <a:prstGeom prst="ellipse">
            <a:avLst/>
          </a:prstGeom>
          <a:solidFill>
            <a:srgbClr val="DDE5E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1280160"/>
            <a:ext cx="1325880" cy="1325880"/>
          </a:xfrm>
          <a:prstGeom prst="ellipse">
            <a:avLst/>
          </a:prstGeom>
          <a:solidFill>
            <a:srgbClr val="2A68D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1828800"/>
            <a:ext cx="731520" cy="731520"/>
          </a:xfrm>
          <a:prstGeom prst="ellipse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7772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EA0"/>
                </a:solidFill>
                <a:latin typeface="Aptos"/>
              </a:rPr>
              <a:t>AI • COMPUTER VISION • DIGITAL FORENSICS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868680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92638"/>
                </a:solidFill>
                <a:latin typeface="Aptos"/>
              </a:rPr>
              <a:t>Deepfake Video
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82112"/>
            <a:ext cx="7955279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3657C"/>
                </a:solidFill>
                <a:latin typeface="Aptos"/>
              </a:rPr>
              <a:t>A local web application for video screening using pretrained deep-learning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60520"/>
            <a:ext cx="9966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37083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EA0"/>
                </a:solidFill>
                <a:latin typeface="Aptos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700016"/>
            <a:ext cx="92354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2638"/>
                </a:solidFill>
                <a:latin typeface="Aptos"/>
              </a:rPr>
              <a:t>Havish Patel (23BT04099)  •  Jatin Patamari (23BT04086)
Panth Patel (23BT04109)  •  Kuldeep Parmar (23BT04062)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6263640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657C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2638"/>
                </a:solidFill>
                <a:latin typeface="Aptos"/>
              </a:rPr>
              <a:t>Purpose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85800" cy="50292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Why build a video-focused deepfake screening tool?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57C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975104"/>
            <a:ext cx="50292" cy="1216151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04495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Synthetic and manipulated media can be difficult to distinguish from genuine recordings by visual inspection alone.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7" y="1975104"/>
            <a:ext cx="50292" cy="1216151"/>
          </a:xfrm>
          <a:prstGeom prst="rect">
            <a:avLst/>
          </a:prstGeom>
          <a:solidFill>
            <a:srgbClr val="2A68D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The 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Provide an accessible workflow to upload a video, analyze sampled faces/frames, and surface model signals for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975104"/>
            <a:ext cx="50292" cy="1216151"/>
          </a:xfrm>
          <a:prstGeom prst="rect">
            <a:avLst/>
          </a:prstGeom>
          <a:solidFill>
            <a:srgbClr val="138F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The intended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04495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A screening aid for learning and preliminary investigation—not a definitive authenticity verdict.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92638"/>
                </a:solidFill>
                <a:latin typeface="Aptos"/>
              </a:rPr>
              <a:t>Project 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79392"/>
            <a:ext cx="10698480" cy="1645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buChar char="•"/>
              <a:spcAft>
                <a:spcPts val="9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 sz="1600">
                <a:solidFill>
                  <a:srgbClr val="192638"/>
                </a:solidFill>
                <a:latin typeface="Aptos"/>
              </a:rPr>
              <a:t>Accept common video formats through a simple web interface.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 sz="1600">
                <a:solidFill>
                  <a:srgbClr val="192638"/>
                </a:solidFill>
                <a:latin typeface="Aptos"/>
              </a:rPr>
              <a:t>Use a pretrained detector without requiring users to train a model.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 sz="1600">
                <a:solidFill>
                  <a:srgbClr val="192638"/>
                </a:solidFill>
                <a:latin typeface="Aptos"/>
              </a:rPr>
              <a:t>Show frame-level scores, timestamps, and a downloadable report.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 sz="1600">
                <a:solidFill>
                  <a:srgbClr val="192638"/>
                </a:solidFill>
                <a:latin typeface="Aptos"/>
              </a:rPr>
              <a:t>Keep uploaded video processing local by default.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2638"/>
                </a:solidFill>
                <a:latin typeface="Aptos"/>
              </a:rPr>
              <a:t>System Components &amp;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85800" cy="50292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A modular Python application: interface, video pipeline, model, and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57C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975104"/>
            <a:ext cx="50292" cy="1124712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04495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Web interface for upload, settings, progress, result display, and report downloads.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7" y="1975104"/>
            <a:ext cx="50292" cy="1124712"/>
          </a:xfrm>
          <a:prstGeom prst="rect">
            <a:avLst/>
          </a:prstGeom>
          <a:solidFill>
            <a:srgbClr val="2A68D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OpenCV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Video decoding, frame sampling, face detection/cropping, and media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975104"/>
            <a:ext cx="50292" cy="1124712"/>
          </a:xfrm>
          <a:prstGeom prst="rect">
            <a:avLst/>
          </a:prstGeom>
          <a:solidFill>
            <a:srgbClr val="138F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PyTorch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04495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Loads the selected pretrained model and performs inference on prepared inputs.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803904"/>
            <a:ext cx="50292" cy="1124712"/>
          </a:xfrm>
          <a:prstGeom prst="rect">
            <a:avLst/>
          </a:prstGeom>
          <a:solidFill>
            <a:srgbClr val="AC69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22191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Pretrained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24528"/>
            <a:ext cx="304495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The learned parameters must match the model architecture, preprocessing, and label mapping.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57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7" y="3803904"/>
            <a:ext cx="50292" cy="1124712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822191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Aggregation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224528"/>
            <a:ext cx="304495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Combines frame-level scores into a video-level screening result and reports variability.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657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3803904"/>
            <a:ext cx="50292" cy="1124712"/>
          </a:xfrm>
          <a:prstGeom prst="rect">
            <a:avLst/>
          </a:prstGeom>
          <a:solidFill>
            <a:srgbClr val="2A68D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822191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224528"/>
            <a:ext cx="304495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Exports analysis metadata and frame scores to JSON/CSV for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2638"/>
                </a:solidFill>
                <a:latin typeface="Aptos"/>
              </a:rPr>
              <a:t>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85800" cy="50292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From uploaded video to an interpretable screening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57C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47802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EA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34639"/>
            <a:ext cx="1307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2638"/>
                </a:solidFill>
                <a:latin typeface="Aptos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291839"/>
            <a:ext cx="130759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657C"/>
                </a:solidFill>
                <a:latin typeface="Aptos"/>
              </a:rPr>
              <a:t>Select a supported
video 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2828" y="3246120"/>
            <a:ext cx="114300" cy="0"/>
          </a:xfrm>
          <a:prstGeom prst="line">
            <a:avLst/>
          </a:prstGeom>
          <a:ln w="25400">
            <a:solidFill>
              <a:srgbClr val="2A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85415" y="233172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4287" y="247802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EA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7" y="2834639"/>
            <a:ext cx="1307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2638"/>
                </a:solidFill>
                <a:latin typeface="Apto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7" y="3291839"/>
            <a:ext cx="130759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657C"/>
                </a:solidFill>
                <a:latin typeface="Aptos"/>
              </a:rPr>
              <a:t>Check size, format,
and readability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35323" y="3246120"/>
            <a:ext cx="114301" cy="0"/>
          </a:xfrm>
          <a:prstGeom prst="line">
            <a:avLst/>
          </a:prstGeom>
          <a:ln w="25400">
            <a:solidFill>
              <a:srgbClr val="2A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67911" y="233172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6783" y="247802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EA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3" y="2834639"/>
            <a:ext cx="1307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2638"/>
                </a:solidFill>
                <a:latin typeface="Aptos"/>
              </a:rPr>
              <a:t>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6783" y="3291839"/>
            <a:ext cx="130759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657C"/>
                </a:solidFill>
                <a:latin typeface="Aptos"/>
              </a:rPr>
              <a:t>Extract frames at
configured intervals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17819" y="3246120"/>
            <a:ext cx="114301" cy="0"/>
          </a:xfrm>
          <a:prstGeom prst="line">
            <a:avLst/>
          </a:prstGeom>
          <a:ln w="25400">
            <a:solidFill>
              <a:srgbClr val="2A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50407" y="233172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79" y="247802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EA0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2834639"/>
            <a:ext cx="1307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2638"/>
                </a:solidFill>
                <a:latin typeface="Aptos"/>
              </a:rPr>
              <a:t>Detect faces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79" y="3291839"/>
            <a:ext cx="130759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657C"/>
                </a:solidFill>
                <a:latin typeface="Aptos"/>
              </a:rPr>
              <a:t>Crop suitable faces
when required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0315" y="3246120"/>
            <a:ext cx="114301" cy="0"/>
          </a:xfrm>
          <a:prstGeom prst="line">
            <a:avLst/>
          </a:prstGeom>
          <a:ln w="25400">
            <a:solidFill>
              <a:srgbClr val="2A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32903" y="233172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1775" y="247802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EA0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775" y="2834639"/>
            <a:ext cx="1307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2638"/>
                </a:solidFill>
                <a:latin typeface="Aptos"/>
              </a:rPr>
              <a:t>Infer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5" y="3291839"/>
            <a:ext cx="130759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657C"/>
                </a:solidFill>
                <a:latin typeface="Aptos"/>
              </a:rPr>
              <a:t>Run pretrained model
on each input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82812" y="3246120"/>
            <a:ext cx="114300" cy="0"/>
          </a:xfrm>
          <a:prstGeom prst="line">
            <a:avLst/>
          </a:prstGeom>
          <a:ln w="25400">
            <a:solidFill>
              <a:srgbClr val="2A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15400" y="233172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34272" y="247802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EA0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2834639"/>
            <a:ext cx="1307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2638"/>
                </a:solidFill>
                <a:latin typeface="Aptos"/>
              </a:rPr>
              <a:t>Aggregate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3291839"/>
            <a:ext cx="130759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657C"/>
                </a:solidFill>
                <a:latin typeface="Aptos"/>
              </a:rPr>
              <a:t>Summarize scores and
uncertainty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465308" y="3246120"/>
            <a:ext cx="114300" cy="0"/>
          </a:xfrm>
          <a:prstGeom prst="line">
            <a:avLst/>
          </a:prstGeom>
          <a:ln w="25400">
            <a:solidFill>
              <a:srgbClr val="2A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597896" y="2331720"/>
            <a:ext cx="153619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16768" y="247802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EA0"/>
                </a:solidFill>
                <a:latin typeface="Aptos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6768" y="2834639"/>
            <a:ext cx="1307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2638"/>
                </a:solidFill>
                <a:latin typeface="Aptos"/>
              </a:rPr>
              <a:t>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6768" y="3291839"/>
            <a:ext cx="130759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657C"/>
                </a:solidFill>
                <a:latin typeface="Aptos"/>
              </a:rPr>
              <a:t>Display timestamps
and export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892040"/>
            <a:ext cx="10789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AC6900"/>
                </a:solidFill>
                <a:latin typeface="Aptos"/>
              </a:rPr>
              <a:t>If the checkpoint is missing, incompatible, or no usable faces are found, the system should return a clear error or inconclusive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2638"/>
                </a:solidFill>
                <a:latin typeface="Aptos"/>
              </a:rPr>
              <a:t>How the Pretrained Detector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85800" cy="50292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Pretrained weights provide learned visual patterns; the application applies them to sampled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57C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975104"/>
            <a:ext cx="50292" cy="1216151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1 ·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04495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Convert frames to the input size, color format, and normalization expected by the chosen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7" y="1975104"/>
            <a:ext cx="50292" cy="1216151"/>
          </a:xfrm>
          <a:prstGeom prst="rect">
            <a:avLst/>
          </a:prstGeom>
          <a:solidFill>
            <a:srgbClr val="2A68D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2 · Neural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The architecture extracts visual features and outputs class logits or scores.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975104"/>
            <a:ext cx="50292" cy="1216151"/>
          </a:xfrm>
          <a:prstGeom prst="rect">
            <a:avLst/>
          </a:prstGeom>
          <a:solidFill>
            <a:srgbClr val="138F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3 · Score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044952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The class mapping and model documentation determine how outputs should be interpreted.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AC6900"/>
                </a:solidFill>
                <a:latin typeface="Aptos"/>
              </a:rPr>
              <a:t>Important distinction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34840"/>
            <a:ext cx="106070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92638"/>
                </a:solidFill>
                <a:latin typeface="Aptos"/>
              </a:rPr>
              <a:t>ImageNet-pretrained EfficientNet-B0 weights alone are not a deepfake detector. The checkpoint must have been trained for deepfake classification, and its architecture and preprocessing must match.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6070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3657C"/>
                </a:solidFill>
                <a:latin typeface="Aptos"/>
              </a:rPr>
              <a:t>A model score is a screening signal—not proof that a video is genuine or manipulated.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2638"/>
                </a:solidFill>
                <a:latin typeface="Aptos"/>
              </a:rPr>
              <a:t>Result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85800" cy="50292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What the application should report and how to interpret it responsibly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57C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975104"/>
            <a:ext cx="50292" cy="758951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Video-level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828032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Aggregate frame-level scores using a documented method such as the median.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3255264"/>
            <a:ext cx="50292" cy="758951"/>
          </a:xfrm>
          <a:prstGeom prst="rect">
            <a:avLst/>
          </a:prstGeom>
          <a:solidFill>
            <a:srgbClr val="2A68D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7355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Frame-level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675887"/>
            <a:ext cx="4828032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Show timestamps, scores, and the number of valid faces/frames analyzed.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4535424"/>
            <a:ext cx="50292" cy="758951"/>
          </a:xfrm>
          <a:prstGeom prst="rect">
            <a:avLst/>
          </a:prstGeom>
          <a:solidFill>
            <a:srgbClr val="138F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55371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Score variability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56048"/>
            <a:ext cx="4828032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Report score spread (for example, IQR) to show inconsistency across sampled frames.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4114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92638"/>
                </a:solidFill>
                <a:latin typeface="Aptos"/>
              </a:rPr>
              <a:t>Assessment categories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2532888"/>
            <a:ext cx="201168" cy="201168"/>
          </a:xfrm>
          <a:prstGeom prst="ellipse">
            <a:avLst/>
          </a:prstGeom>
          <a:solidFill>
            <a:srgbClr val="C3374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514600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2638"/>
                </a:solidFill>
                <a:latin typeface="Aptos"/>
              </a:rPr>
              <a:t>High fake-class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2825496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Requires independent verification.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3447288"/>
            <a:ext cx="201168" cy="201168"/>
          </a:xfrm>
          <a:prstGeom prst="ellipse">
            <a:avLst/>
          </a:prstGeom>
          <a:solidFill>
            <a:srgbClr val="2A68D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3429000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2638"/>
                </a:solidFill>
                <a:latin typeface="Aptos"/>
              </a:rPr>
              <a:t>Inconclusive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3739896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Scores uncertain or evidence insufficient.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4361688"/>
            <a:ext cx="201168" cy="201168"/>
          </a:xfrm>
          <a:prstGeom prst="ellipse">
            <a:avLst/>
          </a:prstGeom>
          <a:solidFill>
            <a:srgbClr val="138F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343400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2638"/>
                </a:solidFill>
                <a:latin typeface="Aptos"/>
              </a:rPr>
              <a:t>Low fake-class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654296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Does not prove authenticity.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C6900"/>
                </a:solidFill>
                <a:latin typeface="Aptos"/>
              </a:rPr>
              <a:t>No measured accuracy is reported here: it must be calculated on a separate, labeled test 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2638"/>
                </a:solidFill>
                <a:latin typeface="Aptos"/>
              </a:rPr>
              <a:t>Security, Privacy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85800" cy="50292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Trustworthy screening requires safe input handling and honest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57C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975104"/>
            <a:ext cx="50292" cy="1170432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Local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04495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Video decoding and inference run locally by default; model weights may be downloaded once and cached.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7" y="1975104"/>
            <a:ext cx="50292" cy="1170432"/>
          </a:xfrm>
          <a:prstGeom prst="rect">
            <a:avLst/>
          </a:prstGeom>
          <a:solidFill>
            <a:srgbClr val="2A68D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Input safeguards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Limit file size, duration, frame count, and clean up temporary uploads.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975104"/>
            <a:ext cx="50292" cy="1170432"/>
          </a:xfrm>
          <a:prstGeom prst="rect">
            <a:avLst/>
          </a:prstGeom>
          <a:solidFill>
            <a:srgbClr val="AC69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Model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04495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3657C"/>
                </a:solidFill>
                <a:latin typeface="Aptos"/>
              </a:rPr>
              <a:t>Compression, lighting, unseen manipulation methods, and missed faces can affect predictions.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92638"/>
                </a:solidFill>
                <a:latin typeface="Aptos"/>
              </a:rPr>
              <a:t>Key caveats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789920" cy="1554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buChar char="•"/>
              <a:spcAft>
                <a:spcPts val="800"/>
              </a:spcAft>
              <a:defRPr sz="1500">
                <a:solidFill>
                  <a:srgbClr val="F4F7FC"/>
                </a:solidFill>
                <a:latin typeface="Aptos"/>
              </a:defRPr>
            </a:pPr>
            <a:r>
              <a:rPr sz="1500">
                <a:solidFill>
                  <a:srgbClr val="192638"/>
                </a:solidFill>
                <a:latin typeface="Aptos"/>
              </a:rPr>
              <a:t>A pretrained model may generalize poorly to manipulation methods absent from its training data.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F4F7FC"/>
                </a:solidFill>
                <a:latin typeface="Aptos"/>
              </a:defRPr>
            </a:pPr>
            <a:r>
              <a:rPr sz="1500">
                <a:solidFill>
                  <a:srgbClr val="192638"/>
                </a:solidFill>
                <a:latin typeface="Aptos"/>
              </a:rPr>
              <a:t>Frame scores are correlated; they should not be treated as independent evidence.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F4F7FC"/>
                </a:solidFill>
                <a:latin typeface="Aptos"/>
              </a:defRPr>
            </a:pPr>
            <a:r>
              <a:rPr sz="1500">
                <a:solidFill>
                  <a:srgbClr val="192638"/>
                </a:solidFill>
                <a:latin typeface="Aptos"/>
              </a:rPr>
              <a:t>A high or low score is not a forensic proof of authenticity.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F4F7FC"/>
                </a:solidFill>
                <a:latin typeface="Aptos"/>
              </a:defRPr>
            </a:pPr>
            <a:r>
              <a:rPr sz="1500">
                <a:solidFill>
                  <a:srgbClr val="192638"/>
                </a:solidFill>
                <a:latin typeface="Aptos"/>
              </a:rPr>
              <a:t>Before deployment, verify model licensing, calibration, and performance on unseen videos.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2638"/>
                </a:solidFill>
                <a:latin typeface="Aptos"/>
              </a:rP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685800" cy="50292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657C"/>
                </a:solidFill>
                <a:latin typeface="Aptos"/>
              </a:rPr>
              <a:t>A practical foundation for local, model-driven video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57C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975104"/>
            <a:ext cx="50292" cy="1078992"/>
          </a:xfrm>
          <a:prstGeom prst="rect">
            <a:avLst/>
          </a:prstGeom>
          <a:solidFill>
            <a:srgbClr val="008E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8280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657C"/>
                </a:solidFill>
                <a:latin typeface="Aptos"/>
              </a:rPr>
              <a:t>The platform connects video upload, frame/face processing, pretrained inference, score aggregation, and report generation in one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7" y="1975104"/>
            <a:ext cx="50292" cy="1078992"/>
          </a:xfrm>
          <a:prstGeom prst="rect">
            <a:avLst/>
          </a:prstGeom>
          <a:solidFill>
            <a:srgbClr val="AC690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2638"/>
                </a:solidFill>
                <a:latin typeface="Aptos"/>
              </a:rPr>
              <a:t>Current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95728"/>
            <a:ext cx="48280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657C"/>
                </a:solidFill>
                <a:latin typeface="Aptos"/>
              </a:rPr>
              <a:t>The quality of results depends on the selected checkpoint, its preprocessing, and independent evaluation.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92638"/>
                </a:solidFill>
                <a:latin typeface="Aptos"/>
              </a:rPr>
              <a:t>Future improvements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0607040" cy="1463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buChar char="•"/>
              <a:spcAft>
                <a:spcPts val="9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 sz="1600">
                <a:solidFill>
                  <a:srgbClr val="192638"/>
                </a:solidFill>
                <a:latin typeface="Aptos"/>
              </a:rPr>
              <a:t>Evaluate multiple pretrained detectors on a held-out benchmark.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 sz="1600">
                <a:solidFill>
                  <a:srgbClr val="192638"/>
                </a:solidFill>
                <a:latin typeface="Aptos"/>
              </a:rPr>
              <a:t>Calibrate decision thresholds and measure false-positive rates.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 sz="1600">
                <a:solidFill>
                  <a:srgbClr val="192638"/>
                </a:solidFill>
                <a:latin typeface="Aptos"/>
              </a:rPr>
              <a:t>Add stronger face tracking and temporal analysis.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rPr sz="1600">
                <a:solidFill>
                  <a:srgbClr val="192638"/>
                </a:solidFill>
                <a:latin typeface="Aptos"/>
              </a:rPr>
              <a:t>Improve explainability and export richer forensic reports.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8EA0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Video Detection System — Light Theme</dc:title>
  <dc:subject>Project presentation in light theme; content preserved from dark-theme version</dc:subject>
  <dc:creator>Havish Patel, Jatin Patamari, Panth Patel, Kuldeep Parmar</dc:creator>
  <cp:keywords>deepfake detection, computer vision, PyTorch, Streamlit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